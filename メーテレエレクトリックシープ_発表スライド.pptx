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0" r:id="rId4"/>
    <p:sldId id="261" r:id="rId5"/>
    <p:sldId id="263" r:id="rId6"/>
    <p:sldId id="265" r:id="rId7"/>
    <p:sldId id="266" r:id="rId8"/>
    <p:sldId id="264"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4891" autoAdjust="0"/>
  </p:normalViewPr>
  <p:slideViewPr>
    <p:cSldViewPr snapToGrid="0">
      <p:cViewPr varScale="1">
        <p:scale>
          <a:sx n="33" d="100"/>
          <a:sy n="33" d="100"/>
        </p:scale>
        <p:origin x="192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E0608-2C56-4DE4-98EF-B13FC64804DF}" type="datetimeFigureOut">
              <a:rPr kumimoji="1" lang="ja-JP" altLang="en-US" smtClean="0"/>
              <a:t>2026/9/13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23214F-D230-4FCC-B363-FB5D73F67A31}" type="slidenum">
              <a:rPr kumimoji="1" lang="ja-JP" altLang="en-US" smtClean="0"/>
              <a:t>‹#›</a:t>
            </a:fld>
            <a:endParaRPr kumimoji="1" lang="ja-JP" altLang="en-US"/>
          </a:p>
        </p:txBody>
      </p:sp>
    </p:spTree>
    <p:extLst>
      <p:ext uri="{BB962C8B-B14F-4D97-AF65-F5344CB8AC3E}">
        <p14:creationId xmlns:p14="http://schemas.microsoft.com/office/powerpoint/2010/main" val="42684834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量子力学が理論として完成したのは、およそ100年前です。では、理論が完成したあとに100年近く続いた論争は、何を巡っていたと思いますか。</a:t>
            </a:r>
          </a:p>
          <a:p>
            <a:r>
              <a:rPr lang="ja-JP" altLang="ja-JP" dirty="0"/>
              <a:t>——観測者です。測定した個別の観測者の情報を、理論の外に置いたまま議論が進んでいました。</a:t>
            </a:r>
          </a:p>
          <a:p>
            <a:r>
              <a:rPr lang="ja-JP" altLang="ja-JP" dirty="0"/>
              <a:t>もう一つ聞きます。AIの電力消費が問題だとよく報道されます。原因はモデルの大きさだけでしょうか。</a:t>
            </a:r>
          </a:p>
          <a:p>
            <a:r>
              <a:rPr lang="ja-JP" altLang="ja-JP" dirty="0"/>
              <a:t>——私たちは、ユーザーのコンテキストが渡っていないために、AIが誰のためでもない平均を計算し続けている面もあると見ています。</a:t>
            </a:r>
          </a:p>
          <a:p>
            <a:r>
              <a:rPr lang="ja-JP" altLang="ja-JP" dirty="0"/>
              <a:t>最後に、皆さん自身に聞きます。あなたにとって幸福とは何か、頭に浮かんだ言葉を思い出してください。その言葉は「人は」「みんな」から始まっていませんでしたか。</a:t>
            </a:r>
          </a:p>
          <a:p>
            <a:r>
              <a:rPr lang="ja-JP" altLang="ja-JP" dirty="0"/>
              <a:t>——幸福を言葉にした瞬間、それは個人のものではなくなります。今、この場で起きたことがそうです。</a:t>
            </a:r>
            <a:endParaRPr lang="en-US" altLang="ja-JP" dirty="0"/>
          </a:p>
          <a:p>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623214F-D230-4FCC-B363-FB5D73F67A31}" type="slidenum">
              <a:rPr kumimoji="1" lang="ja-JP" altLang="en-US" smtClean="0"/>
              <a:t>2</a:t>
            </a:fld>
            <a:endParaRPr kumimoji="1" lang="ja-JP" altLang="en-US"/>
          </a:p>
        </p:txBody>
      </p:sp>
    </p:spTree>
    <p:extLst>
      <p:ext uri="{BB962C8B-B14F-4D97-AF65-F5344CB8AC3E}">
        <p14:creationId xmlns:p14="http://schemas.microsoft.com/office/powerpoint/2010/main" val="3394018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物理も、技術も、幸福論も、同じ場所でつまずいています。実在から、個別の観測者が抜け落ちている。</a:t>
            </a:r>
          </a:p>
          <a:p>
            <a:endParaRPr kumimoji="1" lang="ja-JP" altLang="en-US" dirty="0"/>
          </a:p>
        </p:txBody>
      </p:sp>
      <p:sp>
        <p:nvSpPr>
          <p:cNvPr id="4" name="スライド番号プレースホルダー 3"/>
          <p:cNvSpPr>
            <a:spLocks noGrp="1"/>
          </p:cNvSpPr>
          <p:nvPr>
            <p:ph type="sldNum" sz="quarter" idx="5"/>
          </p:nvPr>
        </p:nvSpPr>
        <p:spPr/>
        <p:txBody>
          <a:bodyPr/>
          <a:lstStyle/>
          <a:p>
            <a:fld id="{0623214F-D230-4FCC-B363-FB5D73F67A31}" type="slidenum">
              <a:rPr kumimoji="1" lang="ja-JP" altLang="en-US" smtClean="0"/>
              <a:t>3</a:t>
            </a:fld>
            <a:endParaRPr kumimoji="1" lang="ja-JP" altLang="en-US"/>
          </a:p>
        </p:txBody>
      </p:sp>
    </p:spTree>
    <p:extLst>
      <p:ext uri="{BB962C8B-B14F-4D97-AF65-F5344CB8AC3E}">
        <p14:creationId xmlns:p14="http://schemas.microsoft.com/office/powerpoint/2010/main" val="998578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未来はどうなるでしょうか。私たちは、AIにコンテキストを伝えるために電脳が発展すると予想しています。しかしそうした電脳社会では記憶が外部化され、改ざんの危険に晒されます。他人との通信で個人の境界も曖昧になります。そこで生きる個人は、自分の存在を外部の情報に、幸福を言葉に求めてしまうでしょう。</a:t>
            </a:r>
          </a:p>
          <a:p>
            <a:r>
              <a:rPr lang="ja-JP" altLang="ja-JP"/>
              <a:t>私たちは、情報の葬式を行うプロダクトで、これに応えることにしました。</a:t>
            </a:r>
          </a:p>
          <a:p>
            <a:endParaRPr kumimoji="1" lang="ja-JP" altLang="en-US"/>
          </a:p>
        </p:txBody>
      </p:sp>
      <p:sp>
        <p:nvSpPr>
          <p:cNvPr id="4" name="スライド番号プレースホルダー 3"/>
          <p:cNvSpPr>
            <a:spLocks noGrp="1"/>
          </p:cNvSpPr>
          <p:nvPr>
            <p:ph type="sldNum" sz="quarter" idx="5"/>
          </p:nvPr>
        </p:nvSpPr>
        <p:spPr/>
        <p:txBody>
          <a:bodyPr/>
          <a:lstStyle/>
          <a:p>
            <a:fld id="{0623214F-D230-4FCC-B363-FB5D73F67A31}" type="slidenum">
              <a:rPr kumimoji="1" lang="ja-JP" altLang="en-US" smtClean="0"/>
              <a:t>4</a:t>
            </a:fld>
            <a:endParaRPr kumimoji="1" lang="ja-JP" altLang="en-US"/>
          </a:p>
        </p:txBody>
      </p:sp>
    </p:spTree>
    <p:extLst>
      <p:ext uri="{BB962C8B-B14F-4D97-AF65-F5344CB8AC3E}">
        <p14:creationId xmlns:p14="http://schemas.microsoft.com/office/powerpoint/2010/main" val="210036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62404-8148-D318-8E8A-61A80707CD8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B644BE7-A850-080D-404A-B139F8B655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D877F1E-2D9B-2EC7-A1E8-881A692643F6}"/>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5" name="フッター プレースホルダー 4">
            <a:extLst>
              <a:ext uri="{FF2B5EF4-FFF2-40B4-BE49-F238E27FC236}">
                <a16:creationId xmlns:a16="http://schemas.microsoft.com/office/drawing/2014/main" id="{72D4CBEF-14FA-DBCB-A12D-97B1AE26BF4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F5C412-BA9B-22F4-F1E6-0FB58380DDA2}"/>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1060254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646C82-6E27-5427-EA05-08D1F17B777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F95420-8C7E-D735-A844-2626524AF14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8E2C52B-45D8-8C5A-7D9D-6019C638047E}"/>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5" name="フッター プレースホルダー 4">
            <a:extLst>
              <a:ext uri="{FF2B5EF4-FFF2-40B4-BE49-F238E27FC236}">
                <a16:creationId xmlns:a16="http://schemas.microsoft.com/office/drawing/2014/main" id="{F22015C0-97D2-F5EB-610A-6D4557EEA8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5C4162-A7EF-FAE5-132E-41C673821B63}"/>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195262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A96A85-9A13-9A34-3363-61493689AF7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F4BF0D3-4CA9-6A77-BACB-7D6E6630F8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DD0E0C9-8C23-3DC0-A263-8AFB147B87FD}"/>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5" name="フッター プレースホルダー 4">
            <a:extLst>
              <a:ext uri="{FF2B5EF4-FFF2-40B4-BE49-F238E27FC236}">
                <a16:creationId xmlns:a16="http://schemas.microsoft.com/office/drawing/2014/main" id="{A34EC39E-7BA5-4E2B-879D-607CF4C9B7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A91D9CD-B5C9-CD83-9846-BA3DEEDFD8D2}"/>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947131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DE2034-A7BF-1EB5-690E-2D3F46C61AC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BDC5132-45EE-93F9-5F35-0C625ADCB49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96C2BCB-87B9-FA72-26EF-20848668109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DE1F213-838E-0725-6CED-0A7EB25E1384}"/>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6" name="フッター プレースホルダー 5">
            <a:extLst>
              <a:ext uri="{FF2B5EF4-FFF2-40B4-BE49-F238E27FC236}">
                <a16:creationId xmlns:a16="http://schemas.microsoft.com/office/drawing/2014/main" id="{10A2CF3C-0B52-DBA8-446B-462B186A941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A165230-1512-B8B6-4AE9-06759B94CC61}"/>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3060766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EF8535-AFFB-73D0-A669-55ECB9BBA0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1EF484-41C7-A16B-A411-D49D9B41C0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708AAD6-05C3-E549-2F76-56E6B86D4A0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F345C6E-FC8F-AB67-1AF8-21DF7918B7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BF3DA3C-84E2-B452-292D-AC696805008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4A50A34-0DE2-8CC9-1CBB-CA0E388A0D67}"/>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8" name="フッター プレースホルダー 7">
            <a:extLst>
              <a:ext uri="{FF2B5EF4-FFF2-40B4-BE49-F238E27FC236}">
                <a16:creationId xmlns:a16="http://schemas.microsoft.com/office/drawing/2014/main" id="{A460D1E1-2893-5466-FFE8-BFA2DDC3DE4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01B1ED5-7554-B730-9E29-6747E56F1BFE}"/>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2729468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D80AD0-EB79-DF99-76AA-F62C709FBDF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CFE771A-A584-7AA1-ECA7-2F8A099BDA24}"/>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4" name="フッター プレースホルダー 3">
            <a:extLst>
              <a:ext uri="{FF2B5EF4-FFF2-40B4-BE49-F238E27FC236}">
                <a16:creationId xmlns:a16="http://schemas.microsoft.com/office/drawing/2014/main" id="{7C1C7FD0-F9E0-22FB-6EB0-DB8E8EE93E3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9F43400-80F1-BB5A-D407-65A7D29AFB9A}"/>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2571857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E3C1475-4640-F625-03B6-213E9560CE9C}"/>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3" name="フッター プレースホルダー 2">
            <a:extLst>
              <a:ext uri="{FF2B5EF4-FFF2-40B4-BE49-F238E27FC236}">
                <a16:creationId xmlns:a16="http://schemas.microsoft.com/office/drawing/2014/main" id="{14FD7A37-D96E-112E-A53F-62366914B99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3B52772-EBA0-2115-28AF-BF29A5B6271B}"/>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554073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7CA271-1414-E539-4055-F5D3AEDA220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40C279F-8B95-1D61-DC51-1F54CBA7E3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E824D04-4203-DB39-252E-94F3A4E2E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E4310C4-6319-9BBD-C901-96313A174992}"/>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6" name="フッター プレースホルダー 5">
            <a:extLst>
              <a:ext uri="{FF2B5EF4-FFF2-40B4-BE49-F238E27FC236}">
                <a16:creationId xmlns:a16="http://schemas.microsoft.com/office/drawing/2014/main" id="{45D13F02-43AE-F363-7331-EF3883CC830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DC7E95C-825B-6D81-EFCA-D357F2B923DB}"/>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3619945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ACB1FF-B9EB-9BFE-4E7C-8ECE9B9F92C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3E9D2C0-10CE-2EA4-76DF-E0515A8ED1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B13FB4F-55FB-0060-88BA-F210EAC6E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7D85955-34B0-A8CA-67EF-43E2D3FE5E6D}"/>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6" name="フッター プレースホルダー 5">
            <a:extLst>
              <a:ext uri="{FF2B5EF4-FFF2-40B4-BE49-F238E27FC236}">
                <a16:creationId xmlns:a16="http://schemas.microsoft.com/office/drawing/2014/main" id="{A56B0FE1-6229-0190-2DC8-9022A765355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93ABC85-46F3-0CBF-4467-23EF62FF7CA6}"/>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194073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8F04EA-8921-E5A1-FF8B-58C645E0A06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8A2BB34-8A40-7D8B-0279-662E3F02766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EFAB3EE-129C-A40B-0B17-7B1300A2BD23}"/>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5" name="フッター プレースホルダー 4">
            <a:extLst>
              <a:ext uri="{FF2B5EF4-FFF2-40B4-BE49-F238E27FC236}">
                <a16:creationId xmlns:a16="http://schemas.microsoft.com/office/drawing/2014/main" id="{4A39AD7F-B2D9-CA2D-3983-D89856A80A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DF8B5A-33B2-79F4-6846-5201FE40A8BE}"/>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262699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7E32764-DE60-C6B0-7BF8-902076C8CA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C5A3F1-77F0-D43E-BB21-63537EAF139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EC8738-522A-53FF-42BC-20B3B4D4F772}"/>
              </a:ext>
            </a:extLst>
          </p:cNvPr>
          <p:cNvSpPr>
            <a:spLocks noGrp="1"/>
          </p:cNvSpPr>
          <p:nvPr>
            <p:ph type="dt" sz="half" idx="10"/>
          </p:nvPr>
        </p:nvSpPr>
        <p:spPr/>
        <p:txBody>
          <a:bodyPr/>
          <a:lstStyle/>
          <a:p>
            <a:fld id="{8F1214DE-BF3E-499E-93FE-BA3E45BD83E4}" type="datetimeFigureOut">
              <a:rPr kumimoji="1" lang="ja-JP" altLang="en-US" smtClean="0"/>
              <a:t>2026/9/13</a:t>
            </a:fld>
            <a:endParaRPr kumimoji="1" lang="ja-JP" altLang="en-US"/>
          </a:p>
        </p:txBody>
      </p:sp>
      <p:sp>
        <p:nvSpPr>
          <p:cNvPr id="5" name="フッター プレースホルダー 4">
            <a:extLst>
              <a:ext uri="{FF2B5EF4-FFF2-40B4-BE49-F238E27FC236}">
                <a16:creationId xmlns:a16="http://schemas.microsoft.com/office/drawing/2014/main" id="{85061569-EDDE-AF80-EB81-6BB74D95B2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3D17DA9-09B5-B8A0-96F5-6ADFACC410D1}"/>
              </a:ext>
            </a:extLst>
          </p:cNvPr>
          <p:cNvSpPr>
            <a:spLocks noGrp="1"/>
          </p:cNvSpPr>
          <p:nvPr>
            <p:ph type="sldNum" sz="quarter" idx="12"/>
          </p:nvPr>
        </p:nvSpPr>
        <p:spPr/>
        <p:txBody>
          <a:body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2279560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9C6E85F-DC1D-BABD-31F5-B0353823A4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D2C428E-780C-9362-B55A-D43DFB447A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9EC1CF-0538-9140-FE2B-7D224718FA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1214DE-BF3E-499E-93FE-BA3E45BD83E4}" type="datetimeFigureOut">
              <a:rPr kumimoji="1" lang="ja-JP" altLang="en-US" smtClean="0"/>
              <a:t>2026/9/13</a:t>
            </a:fld>
            <a:endParaRPr kumimoji="1" lang="ja-JP" altLang="en-US"/>
          </a:p>
        </p:txBody>
      </p:sp>
      <p:sp>
        <p:nvSpPr>
          <p:cNvPr id="5" name="フッター プレースホルダー 4">
            <a:extLst>
              <a:ext uri="{FF2B5EF4-FFF2-40B4-BE49-F238E27FC236}">
                <a16:creationId xmlns:a16="http://schemas.microsoft.com/office/drawing/2014/main" id="{0A8341FB-1740-8F18-02C1-E89F96C52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66F615A-CE60-89B9-6329-6CFB42C4F3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519F3-4ADE-470B-85A8-4C2B012A9AB1}" type="slidenum">
              <a:rPr kumimoji="1" lang="ja-JP" altLang="en-US" smtClean="0"/>
              <a:t>‹#›</a:t>
            </a:fld>
            <a:endParaRPr kumimoji="1" lang="ja-JP" altLang="en-US"/>
          </a:p>
        </p:txBody>
      </p:sp>
    </p:spTree>
    <p:extLst>
      <p:ext uri="{BB962C8B-B14F-4D97-AF65-F5344CB8AC3E}">
        <p14:creationId xmlns:p14="http://schemas.microsoft.com/office/powerpoint/2010/main" val="2069704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D0823F-D1F1-F284-2F91-E96C215A19B8}"/>
              </a:ext>
            </a:extLst>
          </p:cNvPr>
          <p:cNvSpPr>
            <a:spLocks noGrp="1"/>
          </p:cNvSpPr>
          <p:nvPr>
            <p:ph type="ctrTitle"/>
          </p:nvPr>
        </p:nvSpPr>
        <p:spPr/>
        <p:txBody>
          <a:bodyPr/>
          <a:lstStyle/>
          <a:p>
            <a:r>
              <a:rPr kumimoji="1" lang="ja-JP" altLang="en-US" dirty="0">
                <a:latin typeface="BIZ UDP明朝 Medium" panose="02020500000000000000" pitchFamily="18" charset="-128"/>
                <a:ea typeface="BIZ UDP明朝 Medium" panose="02020500000000000000" pitchFamily="18" charset="-128"/>
              </a:rPr>
              <a:t>ランダウアーの忘却炉</a:t>
            </a:r>
          </a:p>
        </p:txBody>
      </p:sp>
      <p:sp>
        <p:nvSpPr>
          <p:cNvPr id="3" name="字幕 2">
            <a:extLst>
              <a:ext uri="{FF2B5EF4-FFF2-40B4-BE49-F238E27FC236}">
                <a16:creationId xmlns:a16="http://schemas.microsoft.com/office/drawing/2014/main" id="{4B19D8FB-1F3B-3184-70BC-358F08FA141E}"/>
              </a:ext>
            </a:extLst>
          </p:cNvPr>
          <p:cNvSpPr>
            <a:spLocks noGrp="1"/>
          </p:cNvSpPr>
          <p:nvPr>
            <p:ph type="subTitle" idx="1"/>
          </p:nvPr>
        </p:nvSpPr>
        <p:spPr/>
        <p:txBody>
          <a:bodyPr/>
          <a:lstStyle/>
          <a:p>
            <a:r>
              <a:rPr kumimoji="1" lang="ja-JP" altLang="en-US" dirty="0">
                <a:latin typeface="BIZ UDP明朝 Medium" panose="02020500000000000000" pitchFamily="18" charset="-128"/>
                <a:ea typeface="BIZ UDP明朝 Medium" panose="02020500000000000000" pitchFamily="18" charset="-128"/>
              </a:rPr>
              <a:t>チーム</a:t>
            </a:r>
            <a:r>
              <a:rPr kumimoji="1" lang="en-US" altLang="ja-JP" dirty="0">
                <a:latin typeface="BIZ UDP明朝 Medium" panose="02020500000000000000" pitchFamily="18" charset="-128"/>
                <a:ea typeface="BIZ UDP明朝 Medium" panose="02020500000000000000" pitchFamily="18" charset="-128"/>
              </a:rPr>
              <a:t>9 O(N)</a:t>
            </a:r>
            <a:endParaRPr kumimoji="1" lang="ja-JP" altLang="en-US"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357748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EFC455-54C8-DB5D-E161-FB876A7FCA4B}"/>
              </a:ext>
            </a:extLst>
          </p:cNvPr>
          <p:cNvSpPr>
            <a:spLocks noGrp="1"/>
          </p:cNvSpPr>
          <p:nvPr>
            <p:ph type="title"/>
          </p:nvPr>
        </p:nvSpPr>
        <p:spPr/>
        <p:txBody>
          <a:bodyPr/>
          <a:lstStyle/>
          <a:p>
            <a:r>
              <a:rPr kumimoji="1" lang="ja-JP" altLang="en-US" dirty="0">
                <a:latin typeface="BIZ UDP明朝 Medium" panose="02020500000000000000" pitchFamily="18" charset="-128"/>
                <a:ea typeface="BIZ UDP明朝 Medium" panose="02020500000000000000" pitchFamily="18" charset="-128"/>
              </a:rPr>
              <a:t>問題提起</a:t>
            </a:r>
          </a:p>
        </p:txBody>
      </p:sp>
      <p:sp>
        <p:nvSpPr>
          <p:cNvPr id="3" name="コンテンツ プレースホルダー 2">
            <a:extLst>
              <a:ext uri="{FF2B5EF4-FFF2-40B4-BE49-F238E27FC236}">
                <a16:creationId xmlns:a16="http://schemas.microsoft.com/office/drawing/2014/main" id="{3C1322F7-ADE1-9250-D807-55308DA65E2A}"/>
              </a:ext>
            </a:extLst>
          </p:cNvPr>
          <p:cNvSpPr>
            <a:spLocks noGrp="1"/>
          </p:cNvSpPr>
          <p:nvPr>
            <p:ph idx="1"/>
          </p:nvPr>
        </p:nvSpPr>
        <p:spPr>
          <a:xfrm>
            <a:off x="838200" y="1825625"/>
            <a:ext cx="8827008" cy="4351338"/>
          </a:xfrm>
        </p:spPr>
        <p:txBody>
          <a:bodyPr>
            <a:normAutofit/>
          </a:bodyPr>
          <a:lstStyle/>
          <a:p>
            <a:r>
              <a:rPr kumimoji="1" lang="en-US" altLang="ja-JP" sz="3200" dirty="0">
                <a:latin typeface="BIZ UDP明朝 Medium" panose="02020500000000000000" pitchFamily="18" charset="-128"/>
                <a:ea typeface="BIZ UDP明朝 Medium" panose="02020500000000000000" pitchFamily="18" charset="-128"/>
              </a:rPr>
              <a:t>量子力学は、理論完成後も解釈で100年論争が続いた</a:t>
            </a:r>
          </a:p>
          <a:p>
            <a:r>
              <a:rPr lang="ja-JP" altLang="en-US" sz="3200" dirty="0">
                <a:latin typeface="BIZ UDP明朝 Medium" panose="02020500000000000000" pitchFamily="18" charset="-128"/>
                <a:ea typeface="BIZ UDP明朝 Medium" panose="02020500000000000000" pitchFamily="18" charset="-128"/>
              </a:rPr>
              <a:t>AIは電力を大量に使い、幸福は言葉にすると誰の話でもなくなる</a:t>
            </a:r>
            <a:endParaRPr lang="en-US" altLang="ja-JP" sz="3200" dirty="0">
              <a:latin typeface="BIZ UDP明朝 Medium" panose="02020500000000000000" pitchFamily="18" charset="-128"/>
              <a:ea typeface="BIZ UDP明朝 Medium" panose="02020500000000000000" pitchFamily="18" charset="-128"/>
            </a:endParaRPr>
          </a:p>
          <a:p>
            <a:endParaRPr lang="en-US" altLang="ja-JP" sz="3200" dirty="0">
              <a:latin typeface="BIZ UDP明朝 Medium" panose="02020500000000000000" pitchFamily="18" charset="-128"/>
              <a:ea typeface="BIZ UDP明朝 Medium" panose="02020500000000000000" pitchFamily="18" charset="-128"/>
            </a:endParaRPr>
          </a:p>
          <a:p>
            <a:endParaRPr lang="en-US" altLang="ja-JP" sz="3200" dirty="0">
              <a:latin typeface="BIZ UDP明朝 Medium" panose="02020500000000000000" pitchFamily="18" charset="-128"/>
              <a:ea typeface="BIZ UDP明朝 Medium" panose="02020500000000000000" pitchFamily="18" charset="-128"/>
            </a:endParaRPr>
          </a:p>
          <a:p>
            <a:pPr marL="0" indent="0">
              <a:buNone/>
            </a:pPr>
            <a:r>
              <a:rPr lang="ja-JP" altLang="en-US" sz="3200" dirty="0">
                <a:latin typeface="BIZ UDP明朝 Medium" panose="02020500000000000000" pitchFamily="18" charset="-128"/>
                <a:ea typeface="BIZ UDP明朝 Medium" panose="02020500000000000000" pitchFamily="18" charset="-128"/>
              </a:rPr>
              <a:t>共通する原因は何か…?</a:t>
            </a:r>
          </a:p>
          <a:p>
            <a:endParaRPr lang="en-US" altLang="ja-JP" sz="3200" dirty="0">
              <a:latin typeface="BIZ UDP明朝 Medium" panose="02020500000000000000" pitchFamily="18" charset="-128"/>
              <a:ea typeface="BIZ UDP明朝 Medium" panose="02020500000000000000" pitchFamily="18" charset="-128"/>
            </a:endParaRPr>
          </a:p>
          <a:p>
            <a:endParaRPr kumimoji="1" lang="ja-JP" altLang="en-US" sz="32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1763551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9850A-4141-B286-AD85-28B2B541F8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23CBA5-6132-0A62-D3BA-708F5126CA06}"/>
              </a:ext>
            </a:extLst>
          </p:cNvPr>
          <p:cNvSpPr>
            <a:spLocks noGrp="1"/>
          </p:cNvSpPr>
          <p:nvPr>
            <p:ph type="ctrTitle"/>
          </p:nvPr>
        </p:nvSpPr>
        <p:spPr>
          <a:xfrm>
            <a:off x="1524000" y="1872171"/>
            <a:ext cx="9144000" cy="2387600"/>
          </a:xfrm>
        </p:spPr>
        <p:txBody>
          <a:bodyPr>
            <a:normAutofit fontScale="90000"/>
          </a:bodyPr>
          <a:lstStyle/>
          <a:p>
            <a:r>
              <a:rPr lang="ja-JP" altLang="en-US" dirty="0">
                <a:solidFill>
                  <a:srgbClr val="FF0000"/>
                </a:solidFill>
                <a:latin typeface="BIZ UDP明朝 Medium" panose="02020500000000000000" pitchFamily="18" charset="-128"/>
                <a:ea typeface="BIZ UDP明朝 Medium" panose="02020500000000000000" pitchFamily="18" charset="-128"/>
              </a:rPr>
              <a:t>人間</a:t>
            </a:r>
            <a:r>
              <a:rPr lang="ja-JP" altLang="en-US" dirty="0">
                <a:latin typeface="BIZ UDP明朝 Medium" panose="02020500000000000000" pitchFamily="18" charset="-128"/>
                <a:ea typeface="BIZ UDP明朝 Medium" panose="02020500000000000000" pitchFamily="18" charset="-128"/>
              </a:rPr>
              <a:t>を</a:t>
            </a:r>
            <a:r>
              <a:rPr lang="ja-JP" altLang="en-US" dirty="0">
                <a:solidFill>
                  <a:srgbClr val="FF0000"/>
                </a:solidFill>
                <a:latin typeface="BIZ UDP明朝 Medium" panose="02020500000000000000" pitchFamily="18" charset="-128"/>
                <a:ea typeface="BIZ UDP明朝 Medium" panose="02020500000000000000" pitchFamily="18" charset="-128"/>
              </a:rPr>
              <a:t>排除</a:t>
            </a:r>
            <a:r>
              <a:rPr lang="ja-JP" altLang="en-US" dirty="0">
                <a:latin typeface="BIZ UDP明朝 Medium" panose="02020500000000000000" pitchFamily="18" charset="-128"/>
                <a:ea typeface="BIZ UDP明朝 Medium" panose="02020500000000000000" pitchFamily="18" charset="-128"/>
              </a:rPr>
              <a:t>したのは、機械ではなく</a:t>
            </a:r>
            <a:r>
              <a:rPr lang="ja-JP" altLang="en-US" dirty="0">
                <a:solidFill>
                  <a:srgbClr val="FF0000"/>
                </a:solidFill>
                <a:latin typeface="BIZ UDP明朝 Medium" panose="02020500000000000000" pitchFamily="18" charset="-128"/>
                <a:ea typeface="BIZ UDP明朝 Medium" panose="02020500000000000000" pitchFamily="18" charset="-128"/>
              </a:rPr>
              <a:t>言語</a:t>
            </a:r>
            <a:r>
              <a:rPr lang="ja-JP" altLang="en-US" dirty="0">
                <a:latin typeface="BIZ UDP明朝 Medium" panose="02020500000000000000" pitchFamily="18" charset="-128"/>
                <a:ea typeface="BIZ UDP明朝 Medium" panose="02020500000000000000" pitchFamily="18" charset="-128"/>
              </a:rPr>
              <a:t>だったのでは？？</a:t>
            </a:r>
            <a:br>
              <a:rPr lang="en-US" altLang="ja-JP" dirty="0">
                <a:latin typeface="BIZ UDP明朝 Medium" panose="02020500000000000000" pitchFamily="18" charset="-128"/>
                <a:ea typeface="BIZ UDP明朝 Medium" panose="02020500000000000000" pitchFamily="18" charset="-128"/>
              </a:rPr>
            </a:br>
            <a:endParaRPr kumimoji="1" lang="ja-JP" altLang="en-US" dirty="0"/>
          </a:p>
        </p:txBody>
      </p:sp>
      <p:sp>
        <p:nvSpPr>
          <p:cNvPr id="3" name="字幕 2">
            <a:extLst>
              <a:ext uri="{FF2B5EF4-FFF2-40B4-BE49-F238E27FC236}">
                <a16:creationId xmlns:a16="http://schemas.microsoft.com/office/drawing/2014/main" id="{819EE32E-08A1-C02B-4058-2206ECBAFA2A}"/>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3138073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A6B1-8F13-9D61-5AC6-A863B20C1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774650-5AD6-0068-8CE7-59F64A88D523}"/>
              </a:ext>
            </a:extLst>
          </p:cNvPr>
          <p:cNvSpPr>
            <a:spLocks noGrp="1"/>
          </p:cNvSpPr>
          <p:nvPr>
            <p:ph type="title"/>
          </p:nvPr>
        </p:nvSpPr>
        <p:spPr/>
        <p:txBody>
          <a:bodyPr/>
          <a:lstStyle/>
          <a:p>
            <a:r>
              <a:rPr kumimoji="1" lang="ja-JP" altLang="en-US" dirty="0">
                <a:latin typeface="BIZ UDP明朝 Medium" panose="02020500000000000000" pitchFamily="18" charset="-128"/>
                <a:ea typeface="BIZ UDP明朝 Medium" panose="02020500000000000000" pitchFamily="18" charset="-128"/>
              </a:rPr>
              <a:t>未来予想</a:t>
            </a:r>
          </a:p>
        </p:txBody>
      </p:sp>
      <p:sp>
        <p:nvSpPr>
          <p:cNvPr id="3" name="コンテンツ プレースホルダー 2">
            <a:extLst>
              <a:ext uri="{FF2B5EF4-FFF2-40B4-BE49-F238E27FC236}">
                <a16:creationId xmlns:a16="http://schemas.microsoft.com/office/drawing/2014/main" id="{A7EA76C2-DEF1-C31D-1667-6369B448AD65}"/>
              </a:ext>
            </a:extLst>
          </p:cNvPr>
          <p:cNvSpPr>
            <a:spLocks noGrp="1"/>
          </p:cNvSpPr>
          <p:nvPr>
            <p:ph idx="1"/>
          </p:nvPr>
        </p:nvSpPr>
        <p:spPr>
          <a:xfrm>
            <a:off x="838200" y="1690688"/>
            <a:ext cx="9668256" cy="4486275"/>
          </a:xfrm>
        </p:spPr>
        <p:txBody>
          <a:bodyPr>
            <a:normAutofit/>
          </a:bodyPr>
          <a:lstStyle/>
          <a:p>
            <a:r>
              <a:rPr lang="en-US" altLang="ja-JP" sz="3200" dirty="0">
                <a:latin typeface="BIZ UDP明朝 Medium" panose="02020500000000000000" pitchFamily="18" charset="-128"/>
                <a:ea typeface="BIZ UDP明朝 Medium" panose="02020500000000000000" pitchFamily="18" charset="-128"/>
              </a:rPr>
              <a:t>AI</a:t>
            </a:r>
            <a:r>
              <a:rPr lang="ja-JP" altLang="en-US" sz="3200" dirty="0">
                <a:latin typeface="BIZ UDP明朝 Medium" panose="02020500000000000000" pitchFamily="18" charset="-128"/>
                <a:ea typeface="BIZ UDP明朝 Medium" panose="02020500000000000000" pitchFamily="18" charset="-128"/>
              </a:rPr>
              <a:t>の消費電力が増大</a:t>
            </a:r>
            <a:endParaRPr lang="en-US" altLang="ja-JP" sz="3200" dirty="0">
              <a:latin typeface="BIZ UDP明朝 Medium" panose="02020500000000000000" pitchFamily="18" charset="-128"/>
              <a:ea typeface="BIZ UDP明朝 Medium" panose="02020500000000000000" pitchFamily="18" charset="-128"/>
            </a:endParaRPr>
          </a:p>
          <a:p>
            <a:r>
              <a:rPr lang="ja-JP" altLang="en-US" sz="3200" dirty="0">
                <a:latin typeface="BIZ UDP明朝 Medium" panose="02020500000000000000" pitchFamily="18" charset="-128"/>
                <a:ea typeface="BIZ UDP明朝 Medium" panose="02020500000000000000" pitchFamily="18" charset="-128"/>
              </a:rPr>
              <a:t>より多くのコンテキストを伝えるために</a:t>
            </a:r>
            <a:r>
              <a:rPr lang="ja-JP" altLang="en-US" sz="3200" dirty="0">
                <a:solidFill>
                  <a:srgbClr val="FF0000"/>
                </a:solidFill>
                <a:latin typeface="BIZ UDP明朝 Medium" panose="02020500000000000000" pitchFamily="18" charset="-128"/>
                <a:ea typeface="BIZ UDP明朝 Medium" panose="02020500000000000000" pitchFamily="18" charset="-128"/>
              </a:rPr>
              <a:t>電脳</a:t>
            </a:r>
            <a:r>
              <a:rPr lang="ja-JP" altLang="en-US" sz="3200" dirty="0">
                <a:latin typeface="BIZ UDP明朝 Medium" panose="02020500000000000000" pitchFamily="18" charset="-128"/>
                <a:ea typeface="BIZ UDP明朝 Medium" panose="02020500000000000000" pitchFamily="18" charset="-128"/>
              </a:rPr>
              <a:t>化が進む</a:t>
            </a:r>
            <a:endParaRPr lang="en-US" altLang="ja-JP" sz="3200" dirty="0">
              <a:latin typeface="BIZ UDP明朝 Medium" panose="02020500000000000000" pitchFamily="18" charset="-128"/>
              <a:ea typeface="BIZ UDP明朝 Medium" panose="02020500000000000000" pitchFamily="18" charset="-128"/>
            </a:endParaRPr>
          </a:p>
          <a:p>
            <a:pPr marL="0" indent="0">
              <a:buNone/>
            </a:pPr>
            <a:r>
              <a:rPr lang="ja-JP" altLang="en-US" sz="3200" dirty="0">
                <a:latin typeface="BIZ UDP明朝 Medium" panose="02020500000000000000" pitchFamily="18" charset="-128"/>
                <a:ea typeface="BIZ UDP明朝 Medium" panose="02020500000000000000" pitchFamily="18" charset="-128"/>
              </a:rPr>
              <a:t>↓</a:t>
            </a:r>
            <a:endParaRPr lang="en-US" altLang="ja-JP" sz="3200" dirty="0">
              <a:latin typeface="BIZ UDP明朝 Medium" panose="02020500000000000000" pitchFamily="18" charset="-128"/>
              <a:ea typeface="BIZ UDP明朝 Medium" panose="02020500000000000000" pitchFamily="18" charset="-128"/>
            </a:endParaRPr>
          </a:p>
          <a:p>
            <a:r>
              <a:rPr lang="ja-JP" altLang="en-US" sz="3200" dirty="0">
                <a:latin typeface="BIZ UDP明朝 Medium" panose="02020500000000000000" pitchFamily="18" charset="-128"/>
                <a:ea typeface="BIZ UDP明朝 Medium" panose="02020500000000000000" pitchFamily="18" charset="-128"/>
              </a:rPr>
              <a:t>言語化よりも</a:t>
            </a:r>
            <a:r>
              <a:rPr lang="ja-JP" altLang="en-US" sz="3200" dirty="0">
                <a:solidFill>
                  <a:srgbClr val="FF0000"/>
                </a:solidFill>
                <a:latin typeface="BIZ UDP明朝 Medium" panose="02020500000000000000" pitchFamily="18" charset="-128"/>
                <a:ea typeface="BIZ UDP明朝 Medium" panose="02020500000000000000" pitchFamily="18" charset="-128"/>
              </a:rPr>
              <a:t>直感，</a:t>
            </a:r>
            <a:r>
              <a:rPr lang="ja-JP" altLang="en-US" sz="3200" dirty="0">
                <a:latin typeface="BIZ UDP明朝 Medium" panose="02020500000000000000" pitchFamily="18" charset="-128"/>
                <a:ea typeface="BIZ UDP明朝 Medium" panose="02020500000000000000" pitchFamily="18" charset="-128"/>
              </a:rPr>
              <a:t>構造的なものよりも</a:t>
            </a:r>
            <a:r>
              <a:rPr lang="ja-JP" altLang="en-US" sz="3200" dirty="0">
                <a:solidFill>
                  <a:srgbClr val="FF0000"/>
                </a:solidFill>
                <a:latin typeface="BIZ UDP明朝 Medium" panose="02020500000000000000" pitchFamily="18" charset="-128"/>
                <a:ea typeface="BIZ UDP明朝 Medium" panose="02020500000000000000" pitchFamily="18" charset="-128"/>
              </a:rPr>
              <a:t>非構造的</a:t>
            </a:r>
            <a:r>
              <a:rPr lang="ja-JP" altLang="en-US" sz="3200" dirty="0">
                <a:latin typeface="BIZ UDP明朝 Medium" panose="02020500000000000000" pitchFamily="18" charset="-128"/>
                <a:ea typeface="BIZ UDP明朝 Medium" panose="02020500000000000000" pitchFamily="18" charset="-128"/>
              </a:rPr>
              <a:t>なものに着目しだす社会</a:t>
            </a:r>
            <a:endParaRPr lang="en-US" altLang="ja-JP" sz="32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3276932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C077-F642-EFF5-6749-2A4653DB53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0FD1A6-7B12-D29E-2184-0157A28F7200}"/>
              </a:ext>
            </a:extLst>
          </p:cNvPr>
          <p:cNvSpPr>
            <a:spLocks noGrp="1"/>
          </p:cNvSpPr>
          <p:nvPr>
            <p:ph type="ctrTitle"/>
          </p:nvPr>
        </p:nvSpPr>
        <p:spPr>
          <a:xfrm>
            <a:off x="1524000" y="1872171"/>
            <a:ext cx="9144000" cy="2387600"/>
          </a:xfrm>
        </p:spPr>
        <p:txBody>
          <a:bodyPr>
            <a:normAutofit/>
          </a:bodyPr>
          <a:lstStyle/>
          <a:p>
            <a:r>
              <a:rPr lang="ja-JP" altLang="en-US" dirty="0">
                <a:latin typeface="BIZ UDP明朝 Medium" panose="02020500000000000000" pitchFamily="18" charset="-128"/>
                <a:ea typeface="BIZ UDP明朝 Medium" panose="02020500000000000000" pitchFamily="18" charset="-128"/>
              </a:rPr>
              <a:t>プロダクト説明</a:t>
            </a:r>
            <a:endParaRPr kumimoji="1" lang="ja-JP" altLang="en-US" dirty="0"/>
          </a:p>
        </p:txBody>
      </p:sp>
      <p:sp>
        <p:nvSpPr>
          <p:cNvPr id="3" name="字幕 2">
            <a:extLst>
              <a:ext uri="{FF2B5EF4-FFF2-40B4-BE49-F238E27FC236}">
                <a16:creationId xmlns:a16="http://schemas.microsoft.com/office/drawing/2014/main" id="{4E66F9D5-0262-71D8-312D-92FFEAB54949}"/>
              </a:ext>
            </a:extLst>
          </p:cNvPr>
          <p:cNvSpPr>
            <a:spLocks noGrp="1"/>
          </p:cNvSpPr>
          <p:nvPr>
            <p:ph type="subTitle" idx="1"/>
          </p:nvPr>
        </p:nvSpPr>
        <p:spPr>
          <a:xfrm>
            <a:off x="1524000" y="4452430"/>
            <a:ext cx="9144000" cy="1655762"/>
          </a:xfrm>
        </p:spPr>
        <p:txBody>
          <a:bodyPr/>
          <a:lstStyle/>
          <a:p>
            <a:r>
              <a:rPr kumimoji="1" lang="ja-JP" altLang="en-US" dirty="0"/>
              <a:t>シミュレーション後，視聴覚演出の時に暗転</a:t>
            </a:r>
          </a:p>
        </p:txBody>
      </p:sp>
    </p:spTree>
    <p:extLst>
      <p:ext uri="{BB962C8B-B14F-4D97-AF65-F5344CB8AC3E}">
        <p14:creationId xmlns:p14="http://schemas.microsoft.com/office/powerpoint/2010/main" val="4220240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5CD6E-6337-A484-D7C7-FC3E5B2B53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5C4AAD-B46E-9D38-31A8-1086594E849B}"/>
              </a:ext>
            </a:extLst>
          </p:cNvPr>
          <p:cNvSpPr>
            <a:spLocks noGrp="1"/>
          </p:cNvSpPr>
          <p:nvPr>
            <p:ph type="ctrTitle"/>
          </p:nvPr>
        </p:nvSpPr>
        <p:spPr>
          <a:xfrm>
            <a:off x="1524000" y="1872171"/>
            <a:ext cx="9144000" cy="2387600"/>
          </a:xfrm>
        </p:spPr>
        <p:txBody>
          <a:bodyPr>
            <a:normAutofit/>
          </a:bodyPr>
          <a:lstStyle/>
          <a:p>
            <a:r>
              <a:rPr lang="ja-JP" altLang="en-US" dirty="0">
                <a:latin typeface="BIZ UDP明朝 Medium" panose="02020500000000000000" pitchFamily="18" charset="-128"/>
                <a:ea typeface="BIZ UDP明朝 Medium" panose="02020500000000000000" pitchFamily="18" charset="-128"/>
              </a:rPr>
              <a:t>幸福の</a:t>
            </a:r>
            <a:r>
              <a:rPr lang="ja-JP" altLang="en-US" dirty="0">
                <a:solidFill>
                  <a:srgbClr val="FF0000"/>
                </a:solidFill>
                <a:latin typeface="BIZ UDP明朝 Medium" panose="02020500000000000000" pitchFamily="18" charset="-128"/>
                <a:ea typeface="BIZ UDP明朝 Medium" panose="02020500000000000000" pitchFamily="18" charset="-128"/>
              </a:rPr>
              <a:t>言語化</a:t>
            </a:r>
            <a:endParaRPr kumimoji="1" lang="ja-JP" altLang="en-US" dirty="0">
              <a:solidFill>
                <a:srgbClr val="FF0000"/>
              </a:solidFill>
            </a:endParaRPr>
          </a:p>
        </p:txBody>
      </p:sp>
      <p:sp>
        <p:nvSpPr>
          <p:cNvPr id="3" name="字幕 2">
            <a:extLst>
              <a:ext uri="{FF2B5EF4-FFF2-40B4-BE49-F238E27FC236}">
                <a16:creationId xmlns:a16="http://schemas.microsoft.com/office/drawing/2014/main" id="{21C7571A-B174-9EC5-A97F-3119C9E9F763}"/>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76602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B4E00-6999-E665-6C54-AAA72098D71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46B4B1-F884-DE9B-7797-09E19E0032C5}"/>
              </a:ext>
            </a:extLst>
          </p:cNvPr>
          <p:cNvSpPr>
            <a:spLocks noGrp="1"/>
          </p:cNvSpPr>
          <p:nvPr>
            <p:ph type="ctrTitle"/>
          </p:nvPr>
        </p:nvSpPr>
        <p:spPr>
          <a:xfrm>
            <a:off x="1524000" y="1872171"/>
            <a:ext cx="9144000" cy="2387600"/>
          </a:xfrm>
        </p:spPr>
        <p:txBody>
          <a:bodyPr>
            <a:normAutofit/>
          </a:bodyPr>
          <a:lstStyle/>
          <a:p>
            <a:r>
              <a:rPr lang="ja-JP" altLang="en-US" dirty="0">
                <a:latin typeface="BIZ UDP明朝 Medium" panose="02020500000000000000" pitchFamily="18" charset="-128"/>
                <a:ea typeface="BIZ UDP明朝 Medium" panose="02020500000000000000" pitchFamily="18" charset="-128"/>
              </a:rPr>
              <a:t>人間の</a:t>
            </a:r>
            <a:r>
              <a:rPr lang="ja-JP" altLang="en-US" dirty="0">
                <a:solidFill>
                  <a:srgbClr val="FF0000"/>
                </a:solidFill>
                <a:latin typeface="BIZ UDP明朝 Medium" panose="02020500000000000000" pitchFamily="18" charset="-128"/>
                <a:ea typeface="BIZ UDP明朝 Medium" panose="02020500000000000000" pitchFamily="18" charset="-128"/>
              </a:rPr>
              <a:t>復活</a:t>
            </a:r>
            <a:endParaRPr kumimoji="1" lang="ja-JP" altLang="en-US" dirty="0">
              <a:solidFill>
                <a:srgbClr val="FF0000"/>
              </a:solidFill>
            </a:endParaRPr>
          </a:p>
        </p:txBody>
      </p:sp>
      <p:sp>
        <p:nvSpPr>
          <p:cNvPr id="3" name="字幕 2">
            <a:extLst>
              <a:ext uri="{FF2B5EF4-FFF2-40B4-BE49-F238E27FC236}">
                <a16:creationId xmlns:a16="http://schemas.microsoft.com/office/drawing/2014/main" id="{827D0238-4D6A-5E98-7502-2EFE29A20682}"/>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735747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8D4A6AF-F5EA-E9FB-3277-612544FCF38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0FD517C8-4922-7E74-B1F4-3E2F56D9EB31}"/>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18685" b="39127"/>
          <a:stretch>
            <a:fillRect/>
          </a:stretch>
        </p:blipFill>
        <p:spPr>
          <a:xfrm>
            <a:off x="20" y="1"/>
            <a:ext cx="12191980" cy="6857999"/>
          </a:xfrm>
          <a:prstGeom prst="rect">
            <a:avLst/>
          </a:prstGeom>
        </p:spPr>
      </p:pic>
      <p:sp>
        <p:nvSpPr>
          <p:cNvPr id="2" name="タイトル 1">
            <a:extLst>
              <a:ext uri="{FF2B5EF4-FFF2-40B4-BE49-F238E27FC236}">
                <a16:creationId xmlns:a16="http://schemas.microsoft.com/office/drawing/2014/main" id="{786DD42F-D8E5-B4D3-D6F6-9D4BC776645E}"/>
              </a:ext>
            </a:extLst>
          </p:cNvPr>
          <p:cNvSpPr>
            <a:spLocks noGrp="1"/>
          </p:cNvSpPr>
          <p:nvPr>
            <p:ph type="ctrTitle"/>
          </p:nvPr>
        </p:nvSpPr>
        <p:spPr>
          <a:xfrm>
            <a:off x="1524000" y="1122362"/>
            <a:ext cx="9144000" cy="2900518"/>
          </a:xfrm>
        </p:spPr>
        <p:txBody>
          <a:bodyPr>
            <a:normAutofit/>
          </a:bodyPr>
          <a:lstStyle/>
          <a:p>
            <a:r>
              <a:rPr lang="en-US" altLang="ja-JP">
                <a:solidFill>
                  <a:srgbClr val="FFFFFF"/>
                </a:solidFill>
                <a:latin typeface="BIZ UDP明朝 Medium" panose="02020500000000000000" pitchFamily="18" charset="-128"/>
                <a:ea typeface="BIZ UDP明朝 Medium" panose="02020500000000000000" pitchFamily="18" charset="-128"/>
              </a:rPr>
              <a:t>Quantum Nature</a:t>
            </a:r>
            <a:endParaRPr kumimoji="1" lang="ja-JP" altLang="en-US">
              <a:solidFill>
                <a:srgbClr val="FFFFFF"/>
              </a:solidFill>
            </a:endParaRPr>
          </a:p>
        </p:txBody>
      </p:sp>
    </p:spTree>
    <p:extLst>
      <p:ext uri="{BB962C8B-B14F-4D97-AF65-F5344CB8AC3E}">
        <p14:creationId xmlns:p14="http://schemas.microsoft.com/office/powerpoint/2010/main" val="144807009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TotalTime>
  <Words>436</Words>
  <Application>Microsoft Office PowerPoint</Application>
  <PresentationFormat>ワイド画面</PresentationFormat>
  <Paragraphs>31</Paragraphs>
  <Slides>8</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BIZ UDP明朝 Medium</vt:lpstr>
      <vt:lpstr>游ゴシック</vt:lpstr>
      <vt:lpstr>游ゴシック Light</vt:lpstr>
      <vt:lpstr>Arial</vt:lpstr>
      <vt:lpstr>Office テーマ</vt:lpstr>
      <vt:lpstr>ランダウアーの忘却炉</vt:lpstr>
      <vt:lpstr>問題提起</vt:lpstr>
      <vt:lpstr>人間を排除したのは、機械ではなく言語だったのでは？？ </vt:lpstr>
      <vt:lpstr>未来予想</vt:lpstr>
      <vt:lpstr>プロダクト説明</vt:lpstr>
      <vt:lpstr>幸福の言語化</vt:lpstr>
      <vt:lpstr>人間の復活</vt:lpstr>
      <vt:lpstr>Quantum Nature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TAKADA Riku</dc:creator>
  <cp:lastModifiedBy>TAKADA Riku</cp:lastModifiedBy>
  <cp:revision>9</cp:revision>
  <dcterms:created xsi:type="dcterms:W3CDTF">2026-09-12T06:16:23Z</dcterms:created>
  <dcterms:modified xsi:type="dcterms:W3CDTF">2026-09-12T16:07:44Z</dcterms:modified>
</cp:coreProperties>
</file>